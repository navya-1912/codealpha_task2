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72" autoAdjust="0"/>
  </p:normalViewPr>
  <p:slideViewPr>
    <p:cSldViewPr>
      <p:cViewPr varScale="1">
        <p:scale>
          <a:sx n="92" d="100"/>
          <a:sy n="92" d="100"/>
        </p:scale>
        <p:origin x="-756" y="-19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D1696-722C-45E7-85D9-B2DE2141AFC0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3D423-F6F9-45D3-A82C-AD77BA548F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267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03D423-F6F9-45D3-A82C-AD77BA548FA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128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03D423-F6F9-45D3-A82C-AD77BA548FA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13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03D423-F6F9-45D3-A82C-AD77BA548FA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635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24320" y="1051560"/>
            <a:ext cx="3841560" cy="217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0" y="171000"/>
            <a:ext cx="4395240" cy="480132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20" name="Google Shape;288;p21"/>
          <p:cNvGrpSpPr/>
          <p:nvPr/>
        </p:nvGrpSpPr>
        <p:grpSpPr>
          <a:xfrm>
            <a:off x="-902880" y="-882000"/>
            <a:ext cx="3376800" cy="2838240"/>
            <a:chOff x="-902880" y="-882000"/>
            <a:chExt cx="3376800" cy="2838240"/>
          </a:xfrm>
        </p:grpSpPr>
        <p:sp>
          <p:nvSpPr>
            <p:cNvPr id="21" name="Google Shape;289;p21"/>
            <p:cNvSpPr/>
            <p:nvPr/>
          </p:nvSpPr>
          <p:spPr>
            <a:xfrm rot="20978400" flipH="1">
              <a:off x="-717120" y="-630720"/>
              <a:ext cx="3005640" cy="2336040"/>
            </a:xfrm>
            <a:custGeom>
              <a:avLst/>
              <a:gdLst>
                <a:gd name="textAreaLeft" fmla="*/ -360 w 3005640"/>
                <a:gd name="textAreaRight" fmla="*/ 3005640 w 3005640"/>
                <a:gd name="textAreaTop" fmla="*/ 0 h 2336040"/>
                <a:gd name="textAreaBottom" fmla="*/ 2336400 h 2336040"/>
              </a:gdLst>
              <a:ahLst/>
              <a:cxnLst/>
              <a:rect l="textAreaLeft" t="textAreaTop" r="textAreaRight" b="textAreaBottom"/>
              <a:pathLst>
                <a:path w="1762786" h="1325447">
                  <a:moveTo>
                    <a:pt x="192194" y="102737"/>
                  </a:moveTo>
                  <a:cubicBezTo>
                    <a:pt x="60472" y="241298"/>
                    <a:pt x="-96739" y="656614"/>
                    <a:pt x="76406" y="794301"/>
                  </a:cubicBezTo>
                  <a:cubicBezTo>
                    <a:pt x="196200" y="889554"/>
                    <a:pt x="422154" y="783372"/>
                    <a:pt x="547212" y="736423"/>
                  </a:cubicBezTo>
                  <a:cubicBezTo>
                    <a:pt x="671953" y="689589"/>
                    <a:pt x="845783" y="628799"/>
                    <a:pt x="973865" y="684200"/>
                  </a:cubicBezTo>
                  <a:cubicBezTo>
                    <a:pt x="1153685" y="761977"/>
                    <a:pt x="1138640" y="1062198"/>
                    <a:pt x="1259211" y="1199204"/>
                  </a:cubicBezTo>
                  <a:cubicBezTo>
                    <a:pt x="1364563" y="1318906"/>
                    <a:pt x="1542890" y="1325447"/>
                    <a:pt x="1666047" y="1232676"/>
                  </a:cubicBezTo>
                  <a:cubicBezTo>
                    <a:pt x="1621363" y="1024280"/>
                    <a:pt x="1579336" y="815343"/>
                    <a:pt x="1531065" y="607711"/>
                  </a:cubicBezTo>
                  <a:cubicBezTo>
                    <a:pt x="1507977" y="508424"/>
                    <a:pt x="1488395" y="407654"/>
                    <a:pt x="1457355" y="310440"/>
                  </a:cubicBezTo>
                  <a:cubicBezTo>
                    <a:pt x="1423229" y="203595"/>
                    <a:pt x="1379363" y="114051"/>
                    <a:pt x="1370696" y="0"/>
                  </a:cubicBezTo>
                  <a:cubicBezTo>
                    <a:pt x="960170" y="68147"/>
                    <a:pt x="602341" y="32403"/>
                    <a:pt x="192194" y="102737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  <a:effectLst>
              <a:outerShdw blurRad="57240" dist="28116" dir="2388334" algn="b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0;p21"/>
            <p:cNvSpPr/>
            <p:nvPr/>
          </p:nvSpPr>
          <p:spPr>
            <a:xfrm rot="20978400" flipH="1">
              <a:off x="-745560" y="-384480"/>
              <a:ext cx="2844720" cy="1852560"/>
            </a:xfrm>
            <a:custGeom>
              <a:avLst/>
              <a:gdLst>
                <a:gd name="textAreaLeft" fmla="*/ 360 w 2844720"/>
                <a:gd name="textAreaRight" fmla="*/ 2845440 w 2844720"/>
                <a:gd name="textAreaTop" fmla="*/ 0 h 1852560"/>
                <a:gd name="textAreaBottom" fmla="*/ 1852920 h 1852560"/>
              </a:gdLst>
              <a:ahLst/>
              <a:cxnLst/>
              <a:rect l="textAreaLeft" t="textAreaTop" r="textAreaRight" b="textAreaBottom"/>
              <a:pathLst>
                <a:path w="1665784" h="1086570">
                  <a:moveTo>
                    <a:pt x="1358688" y="0"/>
                  </a:moveTo>
                  <a:lnTo>
                    <a:pt x="174820" y="0"/>
                  </a:lnTo>
                  <a:cubicBezTo>
                    <a:pt x="34217" y="81686"/>
                    <a:pt x="-88858" y="441950"/>
                    <a:pt x="86494" y="528639"/>
                  </a:cubicBezTo>
                  <a:cubicBezTo>
                    <a:pt x="339502" y="653725"/>
                    <a:pt x="666414" y="391221"/>
                    <a:pt x="925473" y="491754"/>
                  </a:cubicBezTo>
                  <a:cubicBezTo>
                    <a:pt x="1073302" y="549121"/>
                    <a:pt x="1091760" y="772822"/>
                    <a:pt x="1163589" y="892923"/>
                  </a:cubicBezTo>
                  <a:cubicBezTo>
                    <a:pt x="1250381" y="1038033"/>
                    <a:pt x="1477981" y="1086570"/>
                    <a:pt x="1576926" y="926691"/>
                  </a:cubicBezTo>
                  <a:cubicBezTo>
                    <a:pt x="1537127" y="732952"/>
                    <a:pt x="1495550" y="539703"/>
                    <a:pt x="1453237" y="346506"/>
                  </a:cubicBezTo>
                  <a:cubicBezTo>
                    <a:pt x="1427185" y="227572"/>
                    <a:pt x="1387796" y="115391"/>
                    <a:pt x="1358688" y="0"/>
                  </a:cubicBezTo>
                  <a:close/>
                </a:path>
              </a:pathLst>
            </a:custGeom>
            <a:solidFill>
              <a:srgbClr val="0100A2">
                <a:alpha val="67000"/>
              </a:srgbClr>
            </a:solidFill>
            <a:ln w="0">
              <a:noFill/>
            </a:ln>
            <a:effectLst>
              <a:outerShdw blurRad="57240" dist="28116" dir="2388334" algn="b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291;p21"/>
            <p:cNvSpPr/>
            <p:nvPr/>
          </p:nvSpPr>
          <p:spPr>
            <a:xfrm rot="20978400" flipH="1">
              <a:off x="-714240" y="-510480"/>
              <a:ext cx="2586960" cy="1769760"/>
            </a:xfrm>
            <a:custGeom>
              <a:avLst/>
              <a:gdLst>
                <a:gd name="textAreaLeft" fmla="*/ 360 w 2586960"/>
                <a:gd name="textAreaRight" fmla="*/ 2587680 w 2586960"/>
                <a:gd name="textAreaTop" fmla="*/ 0 h 1769760"/>
                <a:gd name="textAreaBottom" fmla="*/ 1770120 h 1769760"/>
              </a:gdLst>
              <a:ahLst/>
              <a:cxnLst/>
              <a:rect l="textAreaLeft" t="textAreaTop" r="textAreaRight" b="textAreaBottom"/>
              <a:pathLst>
                <a:path w="1533643" h="1105298">
                  <a:moveTo>
                    <a:pt x="1210281" y="93460"/>
                  </a:moveTo>
                  <a:cubicBezTo>
                    <a:pt x="1200203" y="62915"/>
                    <a:pt x="1193601" y="31631"/>
                    <a:pt x="1188807" y="0"/>
                  </a:cubicBezTo>
                  <a:lnTo>
                    <a:pt x="170624" y="0"/>
                  </a:lnTo>
                  <a:cubicBezTo>
                    <a:pt x="168825" y="312"/>
                    <a:pt x="167026" y="610"/>
                    <a:pt x="165227" y="922"/>
                  </a:cubicBezTo>
                  <a:cubicBezTo>
                    <a:pt x="69032" y="107136"/>
                    <a:pt x="-100066" y="359085"/>
                    <a:pt x="78200" y="471454"/>
                  </a:cubicBezTo>
                  <a:cubicBezTo>
                    <a:pt x="300066" y="611300"/>
                    <a:pt x="595305" y="395289"/>
                    <a:pt x="834034" y="471697"/>
                  </a:cubicBezTo>
                  <a:cubicBezTo>
                    <a:pt x="960175" y="512068"/>
                    <a:pt x="985992" y="655674"/>
                    <a:pt x="1038853" y="759030"/>
                  </a:cubicBezTo>
                  <a:cubicBezTo>
                    <a:pt x="1109803" y="897782"/>
                    <a:pt x="1317565" y="1105298"/>
                    <a:pt x="1433577" y="882390"/>
                  </a:cubicBezTo>
                  <a:cubicBezTo>
                    <a:pt x="1389507" y="697993"/>
                    <a:pt x="1349678" y="511879"/>
                    <a:pt x="1297676" y="329490"/>
                  </a:cubicBezTo>
                  <a:cubicBezTo>
                    <a:pt x="1274394" y="247816"/>
                    <a:pt x="1236680" y="173491"/>
                    <a:pt x="1210281" y="93459"/>
                  </a:cubicBezTo>
                  <a:close/>
                </a:path>
              </a:pathLst>
            </a:custGeom>
            <a:solidFill>
              <a:srgbClr val="005ACD">
                <a:alpha val="52000"/>
              </a:srgbClr>
            </a:solidFill>
            <a:ln w="0">
              <a:noFill/>
            </a:ln>
            <a:effectLst>
              <a:outerShdw blurRad="57240" dist="28116" dir="2388334" algn="b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292;p21"/>
            <p:cNvSpPr/>
            <p:nvPr/>
          </p:nvSpPr>
          <p:spPr>
            <a:xfrm rot="20978400" flipH="1">
              <a:off x="-789120" y="-489600"/>
              <a:ext cx="2410920" cy="1447200"/>
            </a:xfrm>
            <a:custGeom>
              <a:avLst/>
              <a:gdLst>
                <a:gd name="textAreaLeft" fmla="*/ -360 w 2410920"/>
                <a:gd name="textAreaRight" fmla="*/ 2410920 w 2410920"/>
                <a:gd name="textAreaTop" fmla="*/ 0 h 1447200"/>
                <a:gd name="textAreaBottom" fmla="*/ 1447560 h 1447200"/>
              </a:gdLst>
              <a:ahLst/>
              <a:cxnLst/>
              <a:rect l="textAreaLeft" t="textAreaTop" r="textAreaRight" b="textAreaBottom"/>
              <a:pathLst>
                <a:path w="1422772" h="879549">
                  <a:moveTo>
                    <a:pt x="149241" y="0"/>
                  </a:moveTo>
                  <a:cubicBezTo>
                    <a:pt x="16783" y="92076"/>
                    <a:pt x="-84870" y="295981"/>
                    <a:pt x="103238" y="391313"/>
                  </a:cubicBezTo>
                  <a:cubicBezTo>
                    <a:pt x="321261" y="501801"/>
                    <a:pt x="575772" y="335509"/>
                    <a:pt x="802850" y="408202"/>
                  </a:cubicBezTo>
                  <a:cubicBezTo>
                    <a:pt x="918535" y="445233"/>
                    <a:pt x="933682" y="567828"/>
                    <a:pt x="992307" y="656183"/>
                  </a:cubicBezTo>
                  <a:cubicBezTo>
                    <a:pt x="1083197" y="793154"/>
                    <a:pt x="1224935" y="879549"/>
                    <a:pt x="1337902" y="708164"/>
                  </a:cubicBezTo>
                  <a:cubicBezTo>
                    <a:pt x="1290285" y="470474"/>
                    <a:pt x="1218803" y="237253"/>
                    <a:pt x="1172187" y="1"/>
                  </a:cubicBezTo>
                  <a:lnTo>
                    <a:pt x="149241" y="1"/>
                  </a:lnTo>
                  <a:close/>
                </a:path>
              </a:pathLst>
            </a:custGeom>
            <a:solidFill>
              <a:srgbClr val="307DE0">
                <a:alpha val="58000"/>
              </a:srgbClr>
            </a:solidFill>
            <a:ln w="0">
              <a:noFill/>
            </a:ln>
            <a:effectLst>
              <a:outerShdw blurRad="57240" dist="28116" dir="2388334" algn="b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293;p21"/>
            <p:cNvSpPr/>
            <p:nvPr/>
          </p:nvSpPr>
          <p:spPr>
            <a:xfrm rot="20978400" flipH="1">
              <a:off x="-727200" y="-458640"/>
              <a:ext cx="2041560" cy="1040400"/>
            </a:xfrm>
            <a:custGeom>
              <a:avLst/>
              <a:gdLst>
                <a:gd name="textAreaLeft" fmla="*/ -360 w 2041560"/>
                <a:gd name="textAreaRight" fmla="*/ 2041560 w 2041560"/>
                <a:gd name="textAreaTop" fmla="*/ 0 h 1040400"/>
                <a:gd name="textAreaBottom" fmla="*/ 1040760 h 1040400"/>
              </a:gdLst>
              <a:ahLst/>
              <a:cxnLst/>
              <a:rect l="textAreaLeft" t="textAreaTop" r="textAreaRight" b="textAreaBottom"/>
              <a:pathLst>
                <a:path w="1182988" h="625483">
                  <a:moveTo>
                    <a:pt x="1133680" y="0"/>
                  </a:moveTo>
                  <a:lnTo>
                    <a:pt x="101577" y="0"/>
                  </a:lnTo>
                  <a:cubicBezTo>
                    <a:pt x="-7435" y="73421"/>
                    <a:pt x="-49308" y="217527"/>
                    <a:pt x="80757" y="288651"/>
                  </a:cubicBezTo>
                  <a:cubicBezTo>
                    <a:pt x="244612" y="378252"/>
                    <a:pt x="459640" y="247039"/>
                    <a:pt x="644273" y="295573"/>
                  </a:cubicBezTo>
                  <a:cubicBezTo>
                    <a:pt x="739784" y="320679"/>
                    <a:pt x="763291" y="413957"/>
                    <a:pt x="820658" y="478015"/>
                  </a:cubicBezTo>
                  <a:cubicBezTo>
                    <a:pt x="893152" y="558975"/>
                    <a:pt x="1016186" y="625483"/>
                    <a:pt x="1109489" y="527488"/>
                  </a:cubicBezTo>
                  <a:cubicBezTo>
                    <a:pt x="1062658" y="349560"/>
                    <a:pt x="1121293" y="178173"/>
                    <a:pt x="1133680" y="0"/>
                  </a:cubicBezTo>
                  <a:close/>
                </a:path>
              </a:pathLst>
            </a:custGeom>
            <a:solidFill>
              <a:srgbClr val="E7E7E7">
                <a:alpha val="28000"/>
              </a:srgbClr>
            </a:solidFill>
            <a:ln w="0">
              <a:noFill/>
            </a:ln>
            <a:effectLst>
              <a:outerShdw blurRad="57240" dist="28116" dir="2388334" algn="b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/>
          <p:cNvSpPr/>
          <p:nvPr/>
        </p:nvSpPr>
        <p:spPr>
          <a:xfrm>
            <a:off x="1691680" y="1059582"/>
            <a:ext cx="5544616" cy="58813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 dirty="0">
                <a:solidFill>
                  <a:srgbClr val="E7E7E7"/>
                </a:solidFill>
                <a:effectLst/>
                <a:uFillTx/>
                <a:latin typeface="Calibri" pitchFamily="34" charset="0"/>
                <a:cs typeface="Calibri" pitchFamily="34" charset="0"/>
              </a:rPr>
              <a:t>Phishing </a:t>
            </a:r>
            <a:r>
              <a:rPr lang="en-US" sz="3200" b="1" u="none" strike="noStrike" dirty="0" smtClean="0">
                <a:solidFill>
                  <a:srgbClr val="E7E7E7"/>
                </a:solidFill>
                <a:effectLst/>
                <a:uFillTx/>
                <a:latin typeface="Calibri" pitchFamily="34" charset="0"/>
                <a:cs typeface="Calibri" pitchFamily="34" charset="0"/>
              </a:rPr>
              <a:t>Awareness Training</a:t>
            </a:r>
            <a:endParaRPr lang="en-US" sz="3200" b="0" u="none" strike="noStrike" dirty="0">
              <a:solidFill>
                <a:srgbClr val="FFFFFF"/>
              </a:solidFill>
              <a:effectLst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943360" y="2371680"/>
            <a:ext cx="282852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5576" y="1971586"/>
            <a:ext cx="6912768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smtClean="0">
                <a:latin typeface="Calibri" pitchFamily="34" charset="0"/>
                <a:cs typeface="Calibri" pitchFamily="34" charset="0"/>
              </a:rPr>
              <a:t>        </a:t>
            </a:r>
          </a:p>
          <a:p>
            <a:r>
              <a:rPr lang="en-GB" sz="2000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sz="2000" dirty="0" smtClean="0">
                <a:latin typeface="Calibri" pitchFamily="34" charset="0"/>
                <a:cs typeface="Calibri" pitchFamily="34" charset="0"/>
              </a:rPr>
              <a:t>        Understanding, Identifying, and Preventing Phishing Attacks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sz="1600" dirty="0" smtClean="0"/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Presented by: Navya Arriboyina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CodeAlpha Cyber Security Internship Project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June 2026</a:t>
            </a:r>
            <a:endParaRPr lang="en-IN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600120" y="627534"/>
            <a:ext cx="4619952" cy="432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23960" y="1047600"/>
            <a:ext cx="3838320" cy="39004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3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0" y="2487930"/>
          <a:ext cx="4395788" cy="167640"/>
        </p:xfrm>
        <a:graphic>
          <a:graphicData uri="http://schemas.openxmlformats.org/drawingml/2006/table">
            <a:tbl>
              <a:tblPr/>
              <a:tblGrid>
                <a:gridCol w="4395788"/>
              </a:tblGrid>
              <a:tr h="161226">
                <a:tc>
                  <a:txBody>
                    <a:bodyPr/>
                    <a:lstStyle/>
                    <a:p>
                      <a:pPr algn="l" fontAlgn="t"/>
                      <a:endParaRPr lang="en-IN" sz="1100" dirty="0">
                        <a:effectLst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4572000" y="2439214"/>
            <a:ext cx="6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222222"/>
              </a:solidFill>
              <a:effectLst/>
              <a:latin typeface="Google Sans"/>
              <a:cs typeface="Arial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2487930"/>
          <a:ext cx="4395788" cy="167640"/>
        </p:xfrm>
        <a:graphic>
          <a:graphicData uri="http://schemas.openxmlformats.org/drawingml/2006/table">
            <a:tbl>
              <a:tblPr/>
              <a:tblGrid>
                <a:gridCol w="4395788"/>
              </a:tblGrid>
              <a:tr h="161226">
                <a:tc>
                  <a:txBody>
                    <a:bodyPr/>
                    <a:lstStyle/>
                    <a:p>
                      <a:pPr algn="l" fontAlgn="t"/>
                      <a:endParaRPr lang="en-IN" sz="1100" dirty="0">
                        <a:effectLst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72000" y="2300715"/>
            <a:ext cx="6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222222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/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222222"/>
              </a:solidFill>
              <a:effectLst/>
              <a:latin typeface="Google Sans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7544" y="411510"/>
            <a:ext cx="489654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alibri" pitchFamily="34" charset="0"/>
                <a:cs typeface="Calibri" pitchFamily="34" charset="0"/>
              </a:rPr>
              <a:t>What is Phishing?</a:t>
            </a:r>
          </a:p>
          <a:p>
            <a:pPr algn="just"/>
            <a:r>
              <a:rPr lang="en-IN" sz="1600" dirty="0" smtClean="0"/>
              <a:t/>
            </a:r>
            <a:br>
              <a:rPr lang="en-IN" sz="1600" dirty="0" smtClean="0"/>
            </a:br>
            <a:r>
              <a:rPr lang="en-GB" dirty="0">
                <a:latin typeface="Calibri" pitchFamily="34" charset="0"/>
                <a:cs typeface="Calibri" pitchFamily="34" charset="0"/>
              </a:rPr>
              <a:t>Phishing is a cyberattack where attackers pretend to be trusted organizations or individuals to steal sensitive information. </a:t>
            </a:r>
          </a:p>
          <a:p>
            <a:pPr algn="just">
              <a:lnSpc>
                <a:spcPct val="150000"/>
              </a:lnSpc>
            </a:pPr>
            <a:r>
              <a:rPr lang="en-GB" sz="2000" b="1" dirty="0" smtClean="0">
                <a:latin typeface="Calibri" pitchFamily="34" charset="0"/>
                <a:cs typeface="Calibri" pitchFamily="34" charset="0"/>
              </a:rPr>
              <a:t>Key </a:t>
            </a:r>
            <a:r>
              <a:rPr lang="en-GB" sz="2000" b="1" dirty="0">
                <a:latin typeface="Calibri" pitchFamily="34" charset="0"/>
                <a:cs typeface="Calibri" pitchFamily="34" charset="0"/>
              </a:rPr>
              <a:t>Objectives: </a:t>
            </a:r>
            <a:endParaRPr lang="en-GB" sz="2000" b="1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Steal login credentials </a:t>
            </a:r>
            <a:endParaRPr lang="en-GB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Obtain financial information </a:t>
            </a:r>
            <a:endParaRPr lang="en-GB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Access personal data </a:t>
            </a:r>
            <a:endParaRPr lang="en-GB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Spread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malware</a:t>
            </a:r>
          </a:p>
          <a:p>
            <a:pPr algn="just">
              <a:lnSpc>
                <a:spcPct val="150000"/>
              </a:lnSpc>
            </a:pPr>
            <a:r>
              <a:rPr lang="en-GB" sz="2000" b="1" dirty="0" smtClean="0">
                <a:latin typeface="Calibri" pitchFamily="34" charset="0"/>
                <a:cs typeface="Calibri" pitchFamily="34" charset="0"/>
              </a:rPr>
              <a:t>Common </a:t>
            </a:r>
            <a:r>
              <a:rPr lang="en-GB" sz="2000" b="1" dirty="0">
                <a:latin typeface="Calibri" pitchFamily="34" charset="0"/>
                <a:cs typeface="Calibri" pitchFamily="34" charset="0"/>
              </a:rPr>
              <a:t>Methods: </a:t>
            </a:r>
            <a:endParaRPr lang="en-GB" sz="2000" b="1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Emails </a:t>
            </a:r>
            <a:endParaRPr lang="en-GB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SMS Messages </a:t>
            </a:r>
            <a:endParaRPr lang="en-GB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Fake Websites </a:t>
            </a:r>
            <a:endParaRPr lang="en-GB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Social Media</a:t>
            </a:r>
            <a:endParaRPr lang="en-IN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3" y="1131589"/>
            <a:ext cx="3456386" cy="3780623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/>
          <p:cNvSpPr/>
          <p:nvPr/>
        </p:nvSpPr>
        <p:spPr>
          <a:xfrm>
            <a:off x="5448240" y="1419120"/>
            <a:ext cx="347616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048280" y="3333600"/>
            <a:ext cx="34761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550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8824" y="267494"/>
            <a:ext cx="5109416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GB" sz="2800" b="1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IN" sz="2800" dirty="0" smtClean="0">
                <a:latin typeface="Calibri" pitchFamily="34" charset="0"/>
                <a:cs typeface="Calibri" pitchFamily="34" charset="0"/>
              </a:rPr>
              <a:t>Types </a:t>
            </a:r>
            <a:r>
              <a:rPr lang="en-IN" sz="2800" dirty="0">
                <a:latin typeface="Calibri" pitchFamily="34" charset="0"/>
                <a:cs typeface="Calibri" pitchFamily="34" charset="0"/>
              </a:rPr>
              <a:t>of Phishing</a:t>
            </a:r>
            <a:endParaRPr lang="en-GB" sz="2800" b="1" dirty="0">
              <a:latin typeface="Calibri" pitchFamily="34" charset="0"/>
              <a:cs typeface="Calibri" pitchFamily="34" charset="0"/>
            </a:endParaRPr>
          </a:p>
          <a:p>
            <a:pPr algn="just"/>
            <a:endParaRPr lang="en-GB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Phishing attacks come in different forms, each targeting users in different ways.</a:t>
            </a:r>
            <a:endParaRPr lang="en-GB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b="1" dirty="0">
                <a:latin typeface="Calibri" pitchFamily="34" charset="0"/>
                <a:cs typeface="Calibri" pitchFamily="34" charset="0"/>
              </a:rPr>
              <a:t>Email Phishing </a:t>
            </a:r>
            <a:r>
              <a:rPr lang="en-GB" dirty="0">
                <a:latin typeface="Calibri" pitchFamily="34" charset="0"/>
                <a:cs typeface="Calibri" pitchFamily="34" charset="0"/>
              </a:rPr>
              <a:t>– Fake emails that steal personal or financial information.</a:t>
            </a: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b="1" dirty="0" smtClean="0">
                <a:latin typeface="Calibri" pitchFamily="34" charset="0"/>
                <a:cs typeface="Calibri" pitchFamily="34" charset="0"/>
              </a:rPr>
              <a:t>Spear Phishing </a:t>
            </a:r>
            <a:r>
              <a:rPr lang="en-GB" dirty="0">
                <a:latin typeface="Calibri" pitchFamily="34" charset="0"/>
                <a:cs typeface="Calibri" pitchFamily="34" charset="0"/>
              </a:rPr>
              <a:t>– Targeted attacks aimed at a specific person or organization.</a:t>
            </a: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b="1" dirty="0">
                <a:latin typeface="Calibri" pitchFamily="34" charset="0"/>
                <a:cs typeface="Calibri" pitchFamily="34" charset="0"/>
              </a:rPr>
              <a:t>Smishing</a:t>
            </a:r>
            <a:r>
              <a:rPr lang="en-GB" dirty="0">
                <a:latin typeface="Calibri" pitchFamily="34" charset="0"/>
                <a:cs typeface="Calibri" pitchFamily="34" charset="0"/>
              </a:rPr>
              <a:t> – Phishing attacks carried out through SMS or text messages.</a:t>
            </a: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b="1" dirty="0">
                <a:latin typeface="Calibri" pitchFamily="34" charset="0"/>
                <a:cs typeface="Calibri" pitchFamily="34" charset="0"/>
              </a:rPr>
              <a:t>Vishing</a:t>
            </a:r>
            <a:r>
              <a:rPr lang="en-GB" dirty="0">
                <a:latin typeface="Calibri" pitchFamily="34" charset="0"/>
                <a:cs typeface="Calibri" pitchFamily="34" charset="0"/>
              </a:rPr>
              <a:t> – Fraudulent phone calls used to obtain confidential information.</a:t>
            </a:r>
          </a:p>
          <a:p>
            <a:pPr algn="just"/>
            <a:r>
              <a:rPr lang="en-GB" b="1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b="1" dirty="0">
                <a:latin typeface="Calibri" pitchFamily="34" charset="0"/>
                <a:cs typeface="Calibri" pitchFamily="34" charset="0"/>
              </a:rPr>
              <a:t>Clone Phishing </a:t>
            </a:r>
            <a:r>
              <a:rPr lang="en-GB" dirty="0">
                <a:latin typeface="Calibri" pitchFamily="34" charset="0"/>
                <a:cs typeface="Calibri" pitchFamily="34" charset="0"/>
              </a:rPr>
              <a:t>– A legitimate email is copied and modified with malicious links or attachments.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/>
            </a:r>
            <a:br>
              <a:rPr lang="en-GB" dirty="0">
                <a:latin typeface="Calibri" pitchFamily="34" charset="0"/>
                <a:cs typeface="Calibri" pitchFamily="34" charset="0"/>
              </a:rPr>
            </a:br>
            <a:endParaRPr lang="en-IN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2" t="2153" r="8802" b="2153"/>
          <a:stretch/>
        </p:blipFill>
        <p:spPr>
          <a:xfrm>
            <a:off x="5580112" y="915566"/>
            <a:ext cx="3456384" cy="396044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457200" y="699542"/>
            <a:ext cx="4618856" cy="41764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23528" y="699542"/>
            <a:ext cx="5040560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latin typeface="Calibri" pitchFamily="34" charset="0"/>
                <a:cs typeface="Calibri" pitchFamily="34" charset="0"/>
              </a:rPr>
              <a:t>How to Identify a </a:t>
            </a:r>
            <a:r>
              <a:rPr lang="en-GB" sz="2800" b="1" dirty="0" smtClean="0">
                <a:latin typeface="Calibri" pitchFamily="34" charset="0"/>
                <a:cs typeface="Calibri" pitchFamily="34" charset="0"/>
              </a:rPr>
              <a:t>Phishing Email</a:t>
            </a:r>
          </a:p>
          <a:p>
            <a:endParaRPr lang="en-GB" sz="2000" dirty="0" smtClean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Phishing emails try to steal your personal information. Before opening or replying to an email, check these warning signs</a:t>
            </a:r>
            <a:r>
              <a:rPr lang="en-GB" dirty="0" smtClean="0"/>
              <a:t>:</a:t>
            </a:r>
          </a:p>
          <a:p>
            <a:pPr algn="just"/>
            <a:endParaRPr lang="en-GB" dirty="0" smtClean="0"/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Suspicious sender email address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• Generic greetings (e.g., "Dear Customer")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• Urgent or threatening messages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• Spelling and grammar mistakes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• Suspicious links or attachments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• Requests for passwords or personal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details</a:t>
            </a:r>
            <a:endParaRPr lang="en-GB" dirty="0">
              <a:latin typeface="Calibri" pitchFamily="34" charset="0"/>
              <a:cs typeface="Calibri" pitchFamily="34" charset="0"/>
            </a:endParaRPr>
          </a:p>
          <a:p>
            <a:endParaRPr lang="en-GB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4" y="1347614"/>
            <a:ext cx="3417687" cy="301656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19200" y="1905120"/>
            <a:ext cx="7905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1500" y="507021"/>
            <a:ext cx="459891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latin typeface="Calibri" pitchFamily="34" charset="0"/>
                <a:cs typeface="Calibri" pitchFamily="34" charset="0"/>
              </a:rPr>
              <a:t>Signs of a Fake Website</a:t>
            </a:r>
            <a:br>
              <a:rPr lang="en-GB" sz="2800" b="1" dirty="0">
                <a:latin typeface="Calibri" pitchFamily="34" charset="0"/>
                <a:cs typeface="Calibri" pitchFamily="34" charset="0"/>
              </a:rPr>
            </a:br>
            <a:endParaRPr lang="en-GB" sz="2800" b="1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Fake websites are designed to steal your personal or financial information. Before entering any details, check these warning signs:</a:t>
            </a:r>
          </a:p>
          <a:p>
            <a:r>
              <a:rPr lang="en-GB" dirty="0"/>
              <a:t/>
            </a:r>
            <a:br>
              <a:rPr lang="en-GB" dirty="0"/>
            </a:br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Misspelled or unusual website URLs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Missing HTTPS or the security padlock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icon</a:t>
            </a: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Poor website design and broken links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• Requests for sensitive information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• Too-good-to-be-true offers or discounts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• Unexpected pop-ups or redirects</a:t>
            </a:r>
          </a:p>
          <a:p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928" y="1143000"/>
            <a:ext cx="3678381" cy="3366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619200" y="1905120"/>
            <a:ext cx="7905240" cy="19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48575" y="22893"/>
            <a:ext cx="8635651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dirty="0" smtClean="0">
              <a:latin typeface="Calibri" pitchFamily="34" charset="0"/>
              <a:cs typeface="Calibri" pitchFamily="34" charset="0"/>
            </a:endParaRPr>
          </a:p>
          <a:p>
            <a:endParaRPr lang="en-GB" dirty="0">
              <a:latin typeface="Calibri" pitchFamily="34" charset="0"/>
              <a:cs typeface="Calibri" pitchFamily="34" charset="0"/>
            </a:endParaRPr>
          </a:p>
          <a:p>
            <a:r>
              <a:rPr lang="en-GB" sz="2800" b="1" dirty="0" smtClean="0">
                <a:latin typeface="Calibri" pitchFamily="34" charset="0"/>
                <a:cs typeface="Calibri" pitchFamily="34" charset="0"/>
              </a:rPr>
              <a:t>Social </a:t>
            </a:r>
            <a:r>
              <a:rPr lang="en-GB" sz="2800" b="1" dirty="0">
                <a:latin typeface="Calibri" pitchFamily="34" charset="0"/>
                <a:cs typeface="Calibri" pitchFamily="34" charset="0"/>
              </a:rPr>
              <a:t>Engineering Tactics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Social engineering is a psychological manipulation technique used by cybercriminals to trick people into revealing confidential information or performing unsafe actions. Instead of attacking systems, attackers exploit human trust and emotions.</a:t>
            </a:r>
          </a:p>
          <a:p>
            <a:pPr algn="just"/>
            <a:r>
              <a:rPr lang="en-GB" dirty="0"/>
              <a:t/>
            </a:r>
            <a:br>
              <a:rPr lang="en-GB" dirty="0"/>
            </a:br>
            <a:r>
              <a:rPr lang="en-GB" sz="2000" b="1" dirty="0" smtClean="0">
                <a:latin typeface="Calibri" pitchFamily="34" charset="0"/>
                <a:cs typeface="Calibri" pitchFamily="34" charset="0"/>
              </a:rPr>
              <a:t>Common </a:t>
            </a:r>
            <a:r>
              <a:rPr lang="en-GB" sz="2000" b="1" dirty="0">
                <a:latin typeface="Calibri" pitchFamily="34" charset="0"/>
                <a:cs typeface="Calibri" pitchFamily="34" charset="0"/>
              </a:rPr>
              <a:t>Tactics:</a:t>
            </a:r>
          </a:p>
          <a:p>
            <a:pPr algn="just"/>
            <a:r>
              <a:rPr lang="en-GB" dirty="0"/>
              <a:t/>
            </a:r>
            <a:br>
              <a:rPr lang="en-GB" dirty="0"/>
            </a:br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b="1" dirty="0">
                <a:latin typeface="Calibri" pitchFamily="34" charset="0"/>
                <a:cs typeface="Calibri" pitchFamily="34" charset="0"/>
              </a:rPr>
              <a:t>Authority </a:t>
            </a:r>
            <a:r>
              <a:rPr lang="en-GB" dirty="0">
                <a:latin typeface="Calibri" pitchFamily="34" charset="0"/>
                <a:cs typeface="Calibri" pitchFamily="34" charset="0"/>
              </a:rPr>
              <a:t>– Pretending to be a manager, bank official, or government representative.</a:t>
            </a: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b="1" dirty="0">
                <a:latin typeface="Calibri" pitchFamily="34" charset="0"/>
                <a:cs typeface="Calibri" pitchFamily="34" charset="0"/>
              </a:rPr>
              <a:t>Fear and Urgency </a:t>
            </a:r>
            <a:r>
              <a:rPr lang="en-GB" dirty="0">
                <a:latin typeface="Calibri" pitchFamily="34" charset="0"/>
                <a:cs typeface="Calibri" pitchFamily="34" charset="0"/>
              </a:rPr>
              <a:t>– Creating panic by claiming an account will be blocked or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  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   compromised</a:t>
            </a:r>
            <a:r>
              <a:rPr lang="en-GB" dirty="0">
                <a:latin typeface="Calibri" pitchFamily="34" charset="0"/>
                <a:cs typeface="Calibri" pitchFamily="34" charset="0"/>
              </a:rPr>
              <a:t>.</a:t>
            </a: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b="1" dirty="0">
                <a:latin typeface="Calibri" pitchFamily="34" charset="0"/>
                <a:cs typeface="Calibri" pitchFamily="34" charset="0"/>
              </a:rPr>
              <a:t>Curiosity</a:t>
            </a:r>
            <a:r>
              <a:rPr lang="en-GB" dirty="0">
                <a:latin typeface="Calibri" pitchFamily="34" charset="0"/>
                <a:cs typeface="Calibri" pitchFamily="34" charset="0"/>
              </a:rPr>
              <a:t> – Sending attractive links or attachments to encourage users to click.</a:t>
            </a: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b="1" dirty="0">
                <a:latin typeface="Calibri" pitchFamily="34" charset="0"/>
                <a:cs typeface="Calibri" pitchFamily="34" charset="0"/>
              </a:rPr>
              <a:t>Greed</a:t>
            </a:r>
            <a:r>
              <a:rPr lang="en-GB" dirty="0">
                <a:latin typeface="Calibri" pitchFamily="34" charset="0"/>
                <a:cs typeface="Calibri" pitchFamily="34" charset="0"/>
              </a:rPr>
              <a:t> – Offering fake prizes, rewards, or discounts to attract victims.</a:t>
            </a:r>
          </a:p>
          <a:p>
            <a:pPr algn="just"/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b="1" dirty="0">
                <a:latin typeface="Calibri" pitchFamily="34" charset="0"/>
                <a:cs typeface="Calibri" pitchFamily="34" charset="0"/>
              </a:rPr>
              <a:t>Trust Exploitation</a:t>
            </a:r>
            <a:r>
              <a:rPr lang="en-GB" dirty="0">
                <a:latin typeface="Calibri" pitchFamily="34" charset="0"/>
                <a:cs typeface="Calibri" pitchFamily="34" charset="0"/>
              </a:rPr>
              <a:t> – Building trust before requesting sensitive information</a:t>
            </a:r>
          </a:p>
          <a:p>
            <a:pPr algn="just"/>
            <a:r>
              <a:rPr lang="en-GB" dirty="0"/>
              <a:t/>
            </a:r>
            <a:br>
              <a:rPr lang="en-GB" dirty="0"/>
            </a:br>
            <a:endParaRPr lang="en-GB" dirty="0" smtClean="0">
              <a:latin typeface="Calibri" pitchFamily="34" charset="0"/>
              <a:cs typeface="Calibri" pitchFamily="34" charset="0"/>
            </a:endParaRPr>
          </a:p>
          <a:p>
            <a:endParaRPr lang="en-GB" dirty="0">
              <a:latin typeface="Calibri" pitchFamily="34" charset="0"/>
              <a:cs typeface="Calibri" pitchFamily="34" charset="0"/>
            </a:endParaRPr>
          </a:p>
          <a:p>
            <a:endParaRPr lang="en-GB" dirty="0" smtClean="0">
              <a:latin typeface="Calibri" pitchFamily="34" charset="0"/>
              <a:cs typeface="Calibri" pitchFamily="34" charset="0"/>
            </a:endParaRPr>
          </a:p>
          <a:p>
            <a:endParaRPr lang="en-GB" dirty="0">
              <a:latin typeface="Calibri" pitchFamily="34" charset="0"/>
              <a:cs typeface="Calibri" pitchFamily="34" charset="0"/>
            </a:endParaRPr>
          </a:p>
          <a:p>
            <a:endParaRPr lang="en-GB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19200" y="1905120"/>
            <a:ext cx="79052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 smtClean="0">
                <a:solidFill>
                  <a:srgbClr val="E7E7E7"/>
                </a:solidFill>
                <a:effectLst/>
                <a:uFillTx/>
                <a:latin typeface="Lexend"/>
              </a:rPr>
              <a:t>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5536" y="743662"/>
            <a:ext cx="4752528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latin typeface="Calibri" pitchFamily="34" charset="0"/>
                <a:cs typeface="Calibri" pitchFamily="34" charset="0"/>
              </a:rPr>
              <a:t>Real-World Example</a:t>
            </a:r>
            <a:br>
              <a:rPr lang="en-GB" sz="2800" b="1" dirty="0">
                <a:latin typeface="Calibri" pitchFamily="34" charset="0"/>
                <a:cs typeface="Calibri" pitchFamily="34" charset="0"/>
              </a:rPr>
            </a:br>
            <a:endParaRPr lang="en-GB" sz="2800" b="1" dirty="0">
              <a:latin typeface="Calibri" pitchFamily="34" charset="0"/>
              <a:cs typeface="Calibri" pitchFamily="34" charset="0"/>
            </a:endParaRP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>A user receives an email that appears to be from a bank asking them to verify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their account</a:t>
            </a:r>
            <a:r>
              <a:rPr lang="en-GB" dirty="0">
                <a:latin typeface="Calibri" pitchFamily="34" charset="0"/>
                <a:cs typeface="Calibri" pitchFamily="34" charset="0"/>
              </a:rPr>
              <a:t>.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/>
            </a:r>
            <a:br>
              <a:rPr lang="en-GB" dirty="0">
                <a:latin typeface="Calibri" pitchFamily="34" charset="0"/>
                <a:cs typeface="Calibri" pitchFamily="34" charset="0"/>
              </a:rPr>
            </a:br>
            <a:r>
              <a:rPr lang="en-GB" dirty="0" smtClean="0">
                <a:latin typeface="Calibri" pitchFamily="34" charset="0"/>
                <a:cs typeface="Calibri" pitchFamily="34" charset="0"/>
              </a:rPr>
              <a:t>After </a:t>
            </a:r>
            <a:r>
              <a:rPr lang="en-GB" dirty="0">
                <a:latin typeface="Calibri" pitchFamily="34" charset="0"/>
                <a:cs typeface="Calibri" pitchFamily="34" charset="0"/>
              </a:rPr>
              <a:t>clicking the link, the user is redirected to a fake login page and enters their username and password.</a:t>
            </a:r>
          </a:p>
          <a:p>
            <a:pPr algn="just"/>
            <a:r>
              <a:rPr lang="en-GB" dirty="0">
                <a:latin typeface="Calibri" pitchFamily="34" charset="0"/>
                <a:cs typeface="Calibri" pitchFamily="34" charset="0"/>
              </a:rPr>
              <a:t/>
            </a:r>
            <a:br>
              <a:rPr lang="en-GB" dirty="0">
                <a:latin typeface="Calibri" pitchFamily="34" charset="0"/>
                <a:cs typeface="Calibri" pitchFamily="34" charset="0"/>
              </a:rPr>
            </a:br>
            <a:r>
              <a:rPr lang="en-GB" dirty="0" smtClean="0">
                <a:latin typeface="Calibri" pitchFamily="34" charset="0"/>
                <a:cs typeface="Calibri" pitchFamily="34" charset="0"/>
              </a:rPr>
              <a:t>The </a:t>
            </a:r>
            <a:r>
              <a:rPr lang="en-GB" dirty="0">
                <a:latin typeface="Calibri" pitchFamily="34" charset="0"/>
                <a:cs typeface="Calibri" pitchFamily="34" charset="0"/>
              </a:rPr>
              <a:t>attacker steals the login credentials and gains unauthorized access to the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account.</a:t>
            </a:r>
            <a:endParaRPr lang="en-GB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6" name="Picture 2" descr="Change of banking detail scams: How to protect yourself | Caryn Gilmour  CA(SA) posted on the topic | Linked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832646"/>
            <a:ext cx="3456384" cy="36073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/>
          <p:cNvSpPr/>
          <p:nvPr/>
        </p:nvSpPr>
        <p:spPr>
          <a:xfrm>
            <a:off x="619200" y="1428840"/>
            <a:ext cx="3476160" cy="121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19200" y="3333600"/>
            <a:ext cx="34761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5576" y="411510"/>
            <a:ext cx="7776864" cy="38625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GB" sz="2800" b="1" dirty="0" smtClean="0">
              <a:latin typeface="Calibri" pitchFamily="34" charset="0"/>
              <a:cs typeface="Calibri" pitchFamily="34" charset="0"/>
            </a:endParaRPr>
          </a:p>
          <a:p>
            <a:r>
              <a:rPr lang="en-GB" sz="2800" b="1" dirty="0" smtClean="0">
                <a:latin typeface="Calibri" pitchFamily="34" charset="0"/>
                <a:cs typeface="Calibri" pitchFamily="34" charset="0"/>
              </a:rPr>
              <a:t>Best </a:t>
            </a:r>
            <a:r>
              <a:rPr lang="en-GB" sz="2800" b="1" dirty="0">
                <a:latin typeface="Calibri" pitchFamily="34" charset="0"/>
                <a:cs typeface="Calibri" pitchFamily="34" charset="0"/>
              </a:rPr>
              <a:t>Practices to Prevent Phishing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  <a:p>
            <a:endParaRPr lang="en-GB" dirty="0" smtClean="0"/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Follow </a:t>
            </a:r>
            <a:r>
              <a:rPr lang="en-GB" dirty="0">
                <a:latin typeface="Calibri" pitchFamily="34" charset="0"/>
                <a:cs typeface="Calibri" pitchFamily="34" charset="0"/>
              </a:rPr>
              <a:t>these security practices to protect yourself from phishing attacks: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Calibri" pitchFamily="34" charset="0"/>
                <a:cs typeface="Calibri" pitchFamily="34" charset="0"/>
              </a:rPr>
              <a:t>•👤    Verify </a:t>
            </a:r>
            <a:r>
              <a:rPr lang="en-GB" dirty="0">
                <a:latin typeface="Calibri" pitchFamily="34" charset="0"/>
                <a:cs typeface="Calibri" pitchFamily="34" charset="0"/>
              </a:rPr>
              <a:t>the sender's identity before responding.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Calibri" pitchFamily="34" charset="0"/>
                <a:cs typeface="Calibri" pitchFamily="34" charset="0"/>
              </a:rPr>
              <a:t>•🔗    Do </a:t>
            </a:r>
            <a:r>
              <a:rPr lang="en-GB" dirty="0">
                <a:latin typeface="Calibri" pitchFamily="34" charset="0"/>
                <a:cs typeface="Calibri" pitchFamily="34" charset="0"/>
              </a:rPr>
              <a:t>not click suspicious links or attachments.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🔑   Use </a:t>
            </a:r>
            <a:r>
              <a:rPr lang="en-GB" dirty="0">
                <a:latin typeface="Calibri" pitchFamily="34" charset="0"/>
                <a:cs typeface="Calibri" pitchFamily="34" charset="0"/>
              </a:rPr>
              <a:t>strong and unique passwords.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🛡   Enable </a:t>
            </a:r>
            <a:r>
              <a:rPr lang="en-GB" dirty="0">
                <a:latin typeface="Calibri" pitchFamily="34" charset="0"/>
                <a:cs typeface="Calibri" pitchFamily="34" charset="0"/>
              </a:rPr>
              <a:t>Multi-Factor Authentication (MFA).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💻   Keep </a:t>
            </a:r>
            <a:r>
              <a:rPr lang="en-GB" dirty="0">
                <a:latin typeface="Calibri" pitchFamily="34" charset="0"/>
                <a:cs typeface="Calibri" pitchFamily="34" charset="0"/>
              </a:rPr>
              <a:t>your software and antivirus up to date.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/>
          <p:cNvSpPr/>
          <p:nvPr/>
        </p:nvSpPr>
        <p:spPr>
          <a:xfrm>
            <a:off x="733320" y="3152880"/>
            <a:ext cx="3838320" cy="175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23960" y="1047600"/>
            <a:ext cx="383832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33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39552" y="987574"/>
            <a:ext cx="756084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latin typeface="Calibri" pitchFamily="34" charset="0"/>
                <a:cs typeface="Calibri" pitchFamily="34" charset="0"/>
              </a:rPr>
              <a:t>What to Do If You Suspect Phishing</a:t>
            </a:r>
            <a:br>
              <a:rPr lang="en-GB" sz="2800" b="1" dirty="0">
                <a:latin typeface="Calibri" pitchFamily="34" charset="0"/>
                <a:cs typeface="Calibri" pitchFamily="34" charset="0"/>
              </a:rPr>
            </a:br>
            <a:endParaRPr lang="en-GB" sz="2800" b="1" dirty="0">
              <a:latin typeface="Calibri" pitchFamily="34" charset="0"/>
              <a:cs typeface="Calibri" pitchFamily="34" charset="0"/>
            </a:endParaRPr>
          </a:p>
          <a:p>
            <a:r>
              <a:rPr lang="en-GB" dirty="0">
                <a:latin typeface="Calibri" pitchFamily="34" charset="0"/>
                <a:cs typeface="Calibri" pitchFamily="34" charset="0"/>
              </a:rPr>
              <a:t>If you receive a suspicious email or message:</a:t>
            </a:r>
          </a:p>
          <a:p>
            <a:r>
              <a:rPr lang="en-GB" dirty="0">
                <a:latin typeface="Calibri" pitchFamily="34" charset="0"/>
                <a:cs typeface="Calibri" pitchFamily="34" charset="0"/>
              </a:rPr>
              <a:t/>
            </a:r>
            <a:br>
              <a:rPr lang="en-GB" dirty="0">
                <a:latin typeface="Calibri" pitchFamily="34" charset="0"/>
                <a:cs typeface="Calibri" pitchFamily="34" charset="0"/>
              </a:rPr>
            </a:br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Do not click any links or attachments.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Do not share personal or financial information.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Report the email to your IT team or email provider.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Delete the suspicious message immediately.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Immediately </a:t>
            </a:r>
            <a:r>
              <a:rPr lang="en-GB" dirty="0">
                <a:latin typeface="Calibri" pitchFamily="34" charset="0"/>
                <a:cs typeface="Calibri" pitchFamily="34" charset="0"/>
              </a:rPr>
              <a:t>change your password if you accidentally entered your login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   credentials</a:t>
            </a:r>
            <a:r>
              <a:rPr lang="en-GB" dirty="0"/>
              <a:t>.</a:t>
            </a:r>
            <a:endParaRPr lang="en-GB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19200" y="1905120"/>
            <a:ext cx="790524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5536" y="267494"/>
            <a:ext cx="7632848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800" b="1" dirty="0" smtClean="0">
                <a:latin typeface="Calibri" pitchFamily="34" charset="0"/>
                <a:cs typeface="Calibri" pitchFamily="34" charset="0"/>
              </a:rPr>
              <a:t>Quick Quiz</a:t>
            </a:r>
            <a:endParaRPr lang="en-GB" sz="2800" b="1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Calibri" pitchFamily="34" charset="0"/>
                <a:cs typeface="Calibri" pitchFamily="34" charset="0"/>
              </a:rPr>
              <a:t>1</a:t>
            </a:r>
            <a:r>
              <a:rPr lang="en-GB" b="1" dirty="0">
                <a:latin typeface="Calibri" pitchFamily="34" charset="0"/>
                <a:cs typeface="Calibri" pitchFamily="34" charset="0"/>
              </a:rPr>
              <a:t>. Which of the following is a sign of phishing?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A</a:t>
            </a:r>
            <a:r>
              <a:rPr lang="en-GB" dirty="0">
                <a:latin typeface="Calibri" pitchFamily="34" charset="0"/>
                <a:cs typeface="Calibri" pitchFamily="34" charset="0"/>
              </a:rPr>
              <a:t>) Unexpected email asking for your password</a:t>
            </a:r>
          </a:p>
          <a:p>
            <a:r>
              <a:rPr lang="en-GB" dirty="0">
                <a:latin typeface="Calibri" pitchFamily="34" charset="0"/>
                <a:cs typeface="Calibri" pitchFamily="34" charset="0"/>
              </a:rPr>
              <a:t>B) Email from a trusted friend</a:t>
            </a:r>
          </a:p>
          <a:p>
            <a:r>
              <a:rPr lang="en-GB" dirty="0">
                <a:latin typeface="Calibri" pitchFamily="34" charset="0"/>
                <a:cs typeface="Calibri" pitchFamily="34" charset="0"/>
              </a:rPr>
              <a:t>C) Official company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newsletter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D</a:t>
            </a:r>
            <a:r>
              <a:rPr lang="en-GB" dirty="0">
                <a:latin typeface="Calibri" pitchFamily="34" charset="0"/>
                <a:cs typeface="Calibri" pitchFamily="34" charset="0"/>
              </a:rPr>
              <a:t>) Calendar reminder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Answer</a:t>
            </a:r>
            <a:r>
              <a:rPr lang="en-GB" b="1" dirty="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: A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GB" b="1" dirty="0">
                <a:latin typeface="Calibri" pitchFamily="34" charset="0"/>
                <a:cs typeface="Calibri" pitchFamily="34" charset="0"/>
              </a:rPr>
              <a:t>. What should you do if you receive a suspicious email?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A</a:t>
            </a:r>
            <a:r>
              <a:rPr lang="en-GB" dirty="0">
                <a:latin typeface="Calibri" pitchFamily="34" charset="0"/>
                <a:cs typeface="Calibri" pitchFamily="34" charset="0"/>
              </a:rPr>
              <a:t>) Click the link immediately</a:t>
            </a:r>
          </a:p>
          <a:p>
            <a:r>
              <a:rPr lang="en-GB" dirty="0">
                <a:latin typeface="Calibri" pitchFamily="34" charset="0"/>
                <a:cs typeface="Calibri" pitchFamily="34" charset="0"/>
              </a:rPr>
              <a:t>B) Ignore warning signs</a:t>
            </a:r>
          </a:p>
          <a:p>
            <a:r>
              <a:rPr lang="en-GB" dirty="0">
                <a:latin typeface="Calibri" pitchFamily="34" charset="0"/>
                <a:cs typeface="Calibri" pitchFamily="34" charset="0"/>
              </a:rPr>
              <a:t>C) Report and delete the email</a:t>
            </a:r>
          </a:p>
          <a:p>
            <a:r>
              <a:rPr lang="en-GB" dirty="0">
                <a:latin typeface="Calibri" pitchFamily="34" charset="0"/>
                <a:cs typeface="Calibri" pitchFamily="34" charset="0"/>
              </a:rPr>
              <a:t>D) Share it with friends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Answer</a:t>
            </a:r>
            <a:r>
              <a:rPr lang="en-GB" b="1" dirty="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: 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19200" y="1905120"/>
            <a:ext cx="7905240" cy="167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11827" y="799920"/>
            <a:ext cx="7416824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latin typeface="Calibri" pitchFamily="34" charset="0"/>
                <a:cs typeface="Calibri" pitchFamily="34" charset="0"/>
              </a:rPr>
              <a:t>Conclusion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  <a:p>
            <a:r>
              <a:rPr lang="en-GB" dirty="0">
                <a:latin typeface="Calibri" pitchFamily="34" charset="0"/>
                <a:cs typeface="Calibri" pitchFamily="34" charset="0"/>
              </a:rPr>
              <a:t>• Phishing attacks are becoming more common every day.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Always verify emails, links, and websites before taking any action.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Never share passwords or personal information with unknown sources.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Report suspicious emails or messages immediately.</a:t>
            </a:r>
          </a:p>
          <a:p>
            <a:r>
              <a:rPr lang="en-GB" dirty="0" smtClean="0">
                <a:latin typeface="Calibri" pitchFamily="34" charset="0"/>
                <a:cs typeface="Calibri" pitchFamily="34" charset="0"/>
              </a:rPr>
              <a:t>• </a:t>
            </a:r>
            <a:r>
              <a:rPr lang="en-GB" dirty="0">
                <a:latin typeface="Calibri" pitchFamily="34" charset="0"/>
                <a:cs typeface="Calibri" pitchFamily="34" charset="0"/>
              </a:rPr>
              <a:t>Stay alert and follow safe online practices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.</a:t>
            </a:r>
            <a:endParaRPr lang="en-GB" dirty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en-GB" dirty="0" smtClean="0">
                <a:latin typeface="Calibri" pitchFamily="34" charset="0"/>
                <a:cs typeface="Calibri" pitchFamily="34" charset="0"/>
              </a:rPr>
              <a:t> 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                                        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Calibri" pitchFamily="34" charset="0"/>
                <a:cs typeface="Calibri" pitchFamily="34" charset="0"/>
              </a:rPr>
              <a:t>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                                      </a:t>
            </a:r>
            <a:r>
              <a:rPr lang="en-GB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GB" sz="2400" b="1" dirty="0">
                <a:latin typeface="Calibri" pitchFamily="34" charset="0"/>
                <a:cs typeface="Calibri" pitchFamily="34" charset="0"/>
              </a:rPr>
              <a:t>Think Before You Click!</a:t>
            </a:r>
            <a:br>
              <a:rPr lang="en-GB" sz="2400" b="1" dirty="0">
                <a:latin typeface="Calibri" pitchFamily="34" charset="0"/>
                <a:cs typeface="Calibri" pitchFamily="34" charset="0"/>
              </a:rPr>
            </a:br>
            <a:r>
              <a:rPr lang="en-GB" dirty="0" smtClean="0">
                <a:latin typeface="Calibri" pitchFamily="34" charset="0"/>
                <a:cs typeface="Calibri" pitchFamily="34" charset="0"/>
              </a:rPr>
              <a:t>                                     Stay </a:t>
            </a:r>
            <a:r>
              <a:rPr lang="en-GB" dirty="0">
                <a:latin typeface="Calibri" pitchFamily="34" charset="0"/>
                <a:cs typeface="Calibri" pitchFamily="34" charset="0"/>
              </a:rPr>
              <a:t>Alert • Stay Safe • Stay Secure</a:t>
            </a:r>
            <a:endParaRPr lang="en-GB" dirty="0" smtClean="0">
              <a:latin typeface="Calibri" pitchFamily="34" charset="0"/>
              <a:cs typeface="Calibri" pitchFamily="34" charset="0"/>
            </a:endParaRPr>
          </a:p>
          <a:p>
            <a:pPr>
              <a:lnSpc>
                <a:spcPct val="200000"/>
              </a:lnSpc>
            </a:pPr>
            <a:endParaRPr lang="en-GB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619200" y="1905120"/>
            <a:ext cx="79052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1760" y="2067694"/>
            <a:ext cx="3528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 smtClean="0">
                <a:latin typeface="Calibri" pitchFamily="34" charset="0"/>
                <a:cs typeface="Calibri" pitchFamily="34" charset="0"/>
              </a:rPr>
              <a:t>THANK YOU!</a:t>
            </a:r>
            <a:endParaRPr lang="en-IN" sz="40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ales Protection Fundraising on World Whale Day by Slidesgo">
  <a:themeElements>
    <a:clrScheme name="Simple Light">
      <a:dk1>
        <a:srgbClr val="E7E7E7"/>
      </a:dk1>
      <a:lt1>
        <a:srgbClr val="000026"/>
      </a:lt1>
      <a:dk2>
        <a:srgbClr val="010042"/>
      </a:dk2>
      <a:lt2>
        <a:srgbClr val="0100A2"/>
      </a:lt2>
      <a:accent1>
        <a:srgbClr val="005ACD"/>
      </a:accent1>
      <a:accent2>
        <a:srgbClr val="307DE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7E7E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</TotalTime>
  <Words>291</Words>
  <Application>Microsoft Office PowerPoint</Application>
  <PresentationFormat>On-screen Show (16:9)</PresentationFormat>
  <Paragraphs>113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Whales Protection Fundraising on World Whale Day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NANDINI ARREBOINA</dc:creator>
  <cp:lastModifiedBy>my lap</cp:lastModifiedBy>
  <cp:revision>48</cp:revision>
  <dcterms:modified xsi:type="dcterms:W3CDTF">2026-06-29T09:28:27Z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2026-06-23T06:04:45Z</dcterms:created>
  <dc:creator>Unknown Creator</dc:creator>
  <dc:description/>
  <dc:language>en-US</dc:language>
  <cp:lastModifiedBy>Unknown Creator</cp:lastModifiedBy>
  <dcterms:modified xsi:type="dcterms:W3CDTF">2026-06-23T06:04:45Z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13</vt:r8>
  </property>
</Properties>
</file>